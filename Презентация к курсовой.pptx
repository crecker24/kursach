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  <p:sldId id="269" r:id="rId13"/>
    <p:sldId id="270" r:id="rId14"/>
    <p:sldId id="271" r:id="rId15"/>
    <p:sldId id="277" r:id="rId16"/>
    <p:sldId id="272" r:id="rId17"/>
    <p:sldId id="278" r:id="rId18"/>
    <p:sldId id="273" r:id="rId19"/>
    <p:sldId id="279" r:id="rId20"/>
    <p:sldId id="280" r:id="rId21"/>
    <p:sldId id="281" r:id="rId22"/>
    <p:sldId id="282" r:id="rId23"/>
    <p:sldId id="283" r:id="rId24"/>
    <p:sldId id="274" r:id="rId25"/>
    <p:sldId id="276" r:id="rId26"/>
    <p:sldId id="275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07132-AF83-45DF-BCDD-5D22C332BC66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817704-F86C-423A-A661-D23BF09CE1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084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120613-85A4-4AE3-93A5-40199800B1A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490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03A5-E063-4E90-BC92-E9C79BD4FB42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05D6F-2946-4252-A32E-80FE634653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12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03A5-E063-4E90-BC92-E9C79BD4FB42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05D6F-2946-4252-A32E-80FE634653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19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03A5-E063-4E90-BC92-E9C79BD4FB42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05D6F-2946-4252-A32E-80FE634653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916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03A5-E063-4E90-BC92-E9C79BD4FB42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05D6F-2946-4252-A32E-80FE634653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8424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03A5-E063-4E90-BC92-E9C79BD4FB42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05D6F-2946-4252-A32E-80FE634653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9437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03A5-E063-4E90-BC92-E9C79BD4FB42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05D6F-2946-4252-A32E-80FE634653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6366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03A5-E063-4E90-BC92-E9C79BD4FB42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05D6F-2946-4252-A32E-80FE634653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497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03A5-E063-4E90-BC92-E9C79BD4FB42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05D6F-2946-4252-A32E-80FE634653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386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03A5-E063-4E90-BC92-E9C79BD4FB42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05D6F-2946-4252-A32E-80FE634653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9249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03A5-E063-4E90-BC92-E9C79BD4FB42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05D6F-2946-4252-A32E-80FE634653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454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03A5-E063-4E90-BC92-E9C79BD4FB42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05D6F-2946-4252-A32E-80FE634653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9400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C03A5-E063-4E90-BC92-E9C79BD4FB42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305D6F-2946-4252-A32E-80FE634653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4023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ctrTitle"/>
          </p:nvPr>
        </p:nvSpPr>
        <p:spPr>
          <a:xfrm>
            <a:off x="1524000" y="2067339"/>
            <a:ext cx="9144000" cy="1442624"/>
          </a:xfrm>
        </p:spPr>
        <p:txBody>
          <a:bodyPr>
            <a:noAutofit/>
          </a:bodyPr>
          <a:lstStyle/>
          <a:p>
            <a:r>
              <a:rPr lang="ru-RU" sz="3600" dirty="0"/>
              <a:t>Курсовой проект</a:t>
            </a:r>
            <a:br>
              <a:rPr lang="ru-RU" sz="3600" dirty="0"/>
            </a:br>
            <a:r>
              <a:rPr lang="ru-RU" sz="3600" dirty="0"/>
              <a:t>на тему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«</a:t>
            </a:r>
            <a:r>
              <a:rPr lang="ru-RU" sz="3600" dirty="0">
                <a:effectLst/>
                <a:ea typeface="Calibri" panose="020F0502020204030204" pitchFamily="34" charset="0"/>
              </a:rPr>
              <a:t>Проектирование ИС </a:t>
            </a:r>
            <a:r>
              <a:rPr lang="ru-RU" sz="3600" dirty="0" smtClean="0">
                <a:effectLst/>
                <a:ea typeface="Calibri" panose="020F0502020204030204" pitchFamily="34" charset="0"/>
              </a:rPr>
              <a:t>”Ресторан”»</a:t>
            </a:r>
            <a:endParaRPr lang="ru-RU" sz="3600" dirty="0"/>
          </a:p>
        </p:txBody>
      </p:sp>
      <p:sp>
        <p:nvSpPr>
          <p:cNvPr id="5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944140" y="4073180"/>
            <a:ext cx="4850296" cy="1651759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 smtClean="0"/>
              <a:t>Выполнил: Нагорный Д.Г., </a:t>
            </a:r>
            <a:endParaRPr lang="ru-RU" sz="2000" kern="1100" dirty="0"/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 smtClean="0"/>
              <a:t>студент </a:t>
            </a:r>
            <a:r>
              <a:rPr lang="ru-RU" sz="2000" kern="1100" dirty="0"/>
              <a:t>2 курса очной формы обучения, 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группы </a:t>
            </a:r>
            <a:r>
              <a:rPr lang="ru-RU" sz="2000" kern="1100" dirty="0" err="1"/>
              <a:t>ИСиП</a:t>
            </a:r>
            <a:r>
              <a:rPr lang="ru-RU" sz="2000" kern="1100" dirty="0"/>
              <a:t> </a:t>
            </a:r>
            <a:r>
              <a:rPr lang="ru-RU" sz="2000" kern="1100" dirty="0" smtClean="0"/>
              <a:t>24-9-1</a:t>
            </a:r>
            <a:endParaRPr lang="ru-RU" sz="2000" kern="1100" dirty="0"/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Проверила: </a:t>
            </a:r>
            <a:r>
              <a:rPr lang="ru-RU" sz="2000" kern="1100" dirty="0" smtClean="0"/>
              <a:t>Гончарова Т.В., </a:t>
            </a:r>
            <a:r>
              <a:rPr lang="ru-RU" sz="2000" kern="1100" dirty="0"/>
              <a:t>должность: преподаватель проф. дисциплин</a:t>
            </a:r>
          </a:p>
          <a:p>
            <a:endParaRPr lang="ru-RU" sz="1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53143" y="303793"/>
            <a:ext cx="1098731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ГОСУДАРСТВЕННОЕ АВТОНОМНОЕ ПРОФЕССИОНАЛЬНОЕ ОБРАЗОВАТЕЛЬНОЕ </a:t>
            </a:r>
          </a:p>
          <a:p>
            <a:pPr algn="ctr"/>
            <a:r>
              <a:rPr lang="ru-RU" sz="2000" dirty="0"/>
              <a:t>УЧРЕЖДЕНИЕ  ТЮМЕНСКОЙ ОБЛАСТИ </a:t>
            </a:r>
          </a:p>
          <a:p>
            <a:pPr algn="ctr"/>
            <a:r>
              <a:rPr lang="ru-RU" sz="2000" dirty="0"/>
              <a:t>«ТЮМЕНСКИЙ ТЕХНИКУМ СТРОИТЕЛЬНОЙ ИНДУСТРИИ И ГОРОДСКОГО ХОЗЯЙСТВА»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096801" y="6288156"/>
            <a:ext cx="20938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+mj-lt"/>
              </a:rPr>
              <a:t>г. Тюмень, </a:t>
            </a:r>
            <a:r>
              <a:rPr lang="ru-RU" sz="2000" dirty="0" smtClean="0">
                <a:latin typeface="+mj-lt"/>
              </a:rPr>
              <a:t>2026 </a:t>
            </a:r>
            <a:r>
              <a:rPr lang="ru-RU" sz="2000" dirty="0">
                <a:latin typeface="+mj-lt"/>
              </a:rPr>
              <a:t>г.</a:t>
            </a:r>
          </a:p>
        </p:txBody>
      </p:sp>
    </p:spTree>
    <p:extLst>
      <p:ext uri="{BB962C8B-B14F-4D97-AF65-F5344CB8AC3E}">
        <p14:creationId xmlns:p14="http://schemas.microsoft.com/office/powerpoint/2010/main" val="3609337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09600" y="1999387"/>
            <a:ext cx="954405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Ресторан «67 НЕБО» - это предприятие общественного питания, предоставляющее услуги по организации досуга и питания гостей. Основными услугами ресторана являются интерактивное бронирование столов через мобильное приложение, предоставление посадочных мест в зале с учетом их вместимости и расположения, а также реализация широкого ассортимента блюд и напитков из актуального меню.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Ресторан также предлагает дополнительные услуги, такие как автоматизированная программа лояльности с системой накопления бонусов, электронная оплата счетов через интегрированную платежную систему, организация персонализированного обслуживания на основе предпочтений гостя.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0" y="609600"/>
            <a:ext cx="7867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ПРЕДМЕТНОЙ ОБЛАСТИ</a:t>
            </a:r>
          </a:p>
        </p:txBody>
      </p:sp>
    </p:spTree>
    <p:extLst>
      <p:ext uri="{BB962C8B-B14F-4D97-AF65-F5344CB8AC3E}">
        <p14:creationId xmlns:p14="http://schemas.microsoft.com/office/powerpoint/2010/main" val="250907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0" y="609600"/>
            <a:ext cx="7867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ПРОБЛЕМАТИКА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509962" y="2397948"/>
            <a:ext cx="51720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Font typeface="+mj-lt"/>
              <a:buAutoNum type="arabicPeriod"/>
            </a:pPr>
            <a:r>
              <a:rPr lang="ru-RU" sz="32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Конкуренция на рынке</a:t>
            </a:r>
          </a:p>
          <a:p>
            <a:pPr algn="ctr">
              <a:buFont typeface="+mj-lt"/>
              <a:buAutoNum type="arabicPeriod"/>
            </a:pPr>
            <a:r>
              <a:rPr lang="ru-RU" sz="3200" b="0" i="0" u="none" strike="noStrike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Репутация</a:t>
            </a:r>
            <a:endParaRPr lang="ru-RU" sz="32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+mj-lt"/>
              <a:buAutoNum type="arabicPeriod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автоматизации </a:t>
            </a:r>
            <a:endParaRPr lang="ru-RU" sz="32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703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320802" y="302359"/>
            <a:ext cx="950421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Разработка информационной системы для автоматизации бронирования столиков и управления программой лояльности в ресторане «67 НЕБО».</a:t>
            </a:r>
          </a:p>
          <a:p>
            <a:pPr algn="just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42913" indent="-442913" algn="just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предметную область</a:t>
            </a:r>
          </a:p>
          <a:p>
            <a:pPr marL="457200" indent="-457200" algn="just">
              <a:buAutoNum type="arabicPeriod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конкурентов - изучить основные преимущества и недостатки.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диаграммы, для большего понимания предметной области в целом.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дизайн пользовательского интерфейса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мобильного приложения,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учитывая удобство использования и привлекательность для потенциальных клиентов.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функциональную модель предметной области.</a:t>
            </a:r>
          </a:p>
        </p:txBody>
      </p:sp>
    </p:spTree>
    <p:extLst>
      <p:ext uri="{BB962C8B-B14F-4D97-AF65-F5344CB8AC3E}">
        <p14:creationId xmlns:p14="http://schemas.microsoft.com/office/powerpoint/2010/main" val="721690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5300" y="1520537"/>
            <a:ext cx="85344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Объектом исследования является: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мобильное приложение.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Предметом исследования является: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процессы бронирования столов, управления программой лояльности и обслуживания клиентов через интерфейс информационной системы.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200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101" y="302985"/>
            <a:ext cx="11524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IDEF0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«Ресторанный сервис»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2479527" y="1025496"/>
            <a:ext cx="7315489" cy="548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481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101" y="302985"/>
            <a:ext cx="11524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ДЕКОМПОЗИЦИЯ ДИАГРАММЫ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IDEF0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1ур.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731136" y="1190337"/>
            <a:ext cx="8812271" cy="566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754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101" y="302985"/>
            <a:ext cx="11524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«Система бронирования столов онлайн»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3035935" y="2112327"/>
            <a:ext cx="6120130" cy="263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302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101" y="302985"/>
            <a:ext cx="11524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/>
              <a:t>ДЕКОМПОЗИЦИЯ ДИАГРАММЫ </a:t>
            </a:r>
            <a:r>
              <a:rPr lang="en-US" sz="3200" b="1" dirty="0"/>
              <a:t>DFD</a:t>
            </a:r>
            <a:endParaRPr lang="ru-RU" sz="3200" b="1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3181996" y="1141844"/>
            <a:ext cx="5910552" cy="511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31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101" y="302985"/>
            <a:ext cx="11524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/>
              <a:t>ТЕХНИЧЕСКОЕ ЗАДАНИЕ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72201" y="1351508"/>
            <a:ext cx="54832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 к системе: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данных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безопасности и конфиденциальности пользовательских данных.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Отказоустойчивость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627" y="1120676"/>
            <a:ext cx="54832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цель разработки ИС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автоматизировать процессы бронирования столиков, управления интерактивной картой зала и реализации программы лояльности ресторана «67 Небо».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5101" y="3661916"/>
            <a:ext cx="45828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/>
            <a:r>
              <a:rPr lang="ru-RU" sz="24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Этапы разработки: </a:t>
            </a:r>
          </a:p>
          <a:p>
            <a:pPr indent="450000"/>
            <a:r>
              <a:rPr lang="ru-RU" sz="24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Анализ и проектирование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000"/>
            <a:r>
              <a:rPr lang="ru-RU" sz="2400" dirty="0" smtClean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4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smtClean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endParaRPr lang="ru-RU" sz="24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000"/>
            <a:r>
              <a:rPr lang="ru-RU" sz="2400" dirty="0" smtClean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Внедрение и тестирование</a:t>
            </a:r>
            <a:endParaRPr lang="ru-RU" sz="24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450000">
              <a:buSzPts val="1000"/>
              <a:tabLst>
                <a:tab pos="457200" algn="l"/>
              </a:tabLst>
            </a:pPr>
            <a:r>
              <a:rPr lang="ru-RU" sz="2400" dirty="0" smtClean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24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Поддержка и развитие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135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101" y="302985"/>
            <a:ext cx="11524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UML</a:t>
            </a:r>
            <a:r>
              <a:rPr lang="ru-RU" sz="3200" b="1" dirty="0"/>
              <a:t> диаграмма вариантов использования (</a:t>
            </a:r>
            <a:r>
              <a:rPr lang="en-US" sz="3200" b="1" dirty="0"/>
              <a:t>UseCase</a:t>
            </a:r>
            <a:r>
              <a:rPr lang="ru-RU" sz="3200" b="1" dirty="0"/>
              <a:t>)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2562871" y="1173941"/>
            <a:ext cx="7148802" cy="549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892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101" y="302985"/>
            <a:ext cx="11524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UML</a:t>
            </a:r>
            <a:r>
              <a:rPr lang="ru-RU" sz="3200" b="1" dirty="0"/>
              <a:t> диаграмма деятельности (</a:t>
            </a:r>
            <a:r>
              <a:rPr lang="en-US" sz="3200" b="1" dirty="0"/>
              <a:t>Activity</a:t>
            </a:r>
            <a:r>
              <a:rPr lang="ru-RU" sz="3200" b="1" dirty="0"/>
              <a:t>)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914" y="887760"/>
            <a:ext cx="4184491" cy="568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997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101" y="302985"/>
            <a:ext cx="11524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UML</a:t>
            </a:r>
            <a:r>
              <a:rPr lang="ru-RU" sz="3200" b="1" dirty="0"/>
              <a:t> диаграмма последовательности (</a:t>
            </a:r>
            <a:r>
              <a:rPr lang="en-US" sz="3200" b="1" dirty="0"/>
              <a:t>Sequence</a:t>
            </a:r>
            <a:r>
              <a:rPr lang="ru-RU" sz="3200" b="1" dirty="0"/>
              <a:t>)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2460145" y="1166235"/>
            <a:ext cx="7354254" cy="528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015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101" y="302985"/>
            <a:ext cx="11524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UML</a:t>
            </a:r>
            <a:r>
              <a:rPr lang="ru-RU" sz="3200" b="1" dirty="0"/>
              <a:t> диаграмма классов (</a:t>
            </a:r>
            <a:r>
              <a:rPr lang="en-US" sz="3200" b="1" dirty="0"/>
              <a:t>Class</a:t>
            </a:r>
            <a:r>
              <a:rPr lang="ru-RU" sz="3200" b="1" dirty="0"/>
              <a:t>)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865843" y="1142855"/>
            <a:ext cx="8542857" cy="547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740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101" y="302985"/>
            <a:ext cx="11524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/>
              <a:t>КОНЦЕПТУАЛЬНАЯ </a:t>
            </a:r>
            <a:r>
              <a:rPr lang="ru-RU" sz="3200" b="1" dirty="0"/>
              <a:t>МОДЕЛЬ ДАННЫХ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653017" y="887760"/>
            <a:ext cx="8968509" cy="574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436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101" y="302985"/>
            <a:ext cx="11524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/>
              <a:t>ЛОГИЧЕСКАЯ МОДЕЛЬ ДАННЫХ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77351" y="887760"/>
            <a:ext cx="6119841" cy="559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971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5101" y="302985"/>
            <a:ext cx="11524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/>
              <a:t>ФИЗИЧЕСКАЯ </a:t>
            </a:r>
            <a:r>
              <a:rPr lang="ru-RU" sz="3200" b="1" dirty="0"/>
              <a:t>МОДЕЛЬ ДАННЫХ</a:t>
            </a:r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2847508" y="1131887"/>
            <a:ext cx="6579527" cy="479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809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101" y="302985"/>
            <a:ext cx="11524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/>
              <a:t>АНАЛИТИЧЕСКИЕ ЗАПРОСЫ К БАЗЕ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114" y="1522631"/>
            <a:ext cx="10943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Проверка режима работы филиалов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3499424" y="1984296"/>
            <a:ext cx="5191994" cy="399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091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5386" y="1439504"/>
            <a:ext cx="10943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Анализ максимальной выручки по заказам</a:t>
            </a:r>
            <a:endParaRPr lang="ru-RU" sz="2400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3490690" y="1964777"/>
            <a:ext cx="5293162" cy="335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883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5386" y="1439504"/>
            <a:ext cx="10943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Идентификация наиболее лояльных клиентов</a:t>
            </a:r>
            <a:endParaRPr lang="ru-RU" sz="2400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88953" y="2034453"/>
            <a:ext cx="6096635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561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5386" y="1439504"/>
            <a:ext cx="10943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Формирование списка активных бронирований</a:t>
            </a:r>
            <a:endParaRPr lang="ru-RU" sz="2400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01020" y="2056591"/>
            <a:ext cx="6272502" cy="410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898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5386" y="1439504"/>
            <a:ext cx="10943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Проверка состава конкретного чека</a:t>
            </a:r>
            <a:endParaRPr lang="ru-RU" sz="2400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339155" y="1935306"/>
            <a:ext cx="5596231" cy="294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677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5386" y="1439504"/>
            <a:ext cx="10943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Подбор столика по количеству персон</a:t>
            </a:r>
            <a:endParaRPr lang="ru-RU" sz="2400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323425" y="2017569"/>
            <a:ext cx="5627692" cy="334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994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101" y="302985"/>
            <a:ext cx="11524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/>
              <a:t>ПОЛЬЗОВАТЕЛЬСКИЙ ИНТЕРФЕЙС</a:t>
            </a:r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375101" y="985115"/>
            <a:ext cx="2617481" cy="4916921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3172399" y="985113"/>
            <a:ext cx="2778069" cy="4916922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6130285" y="985113"/>
            <a:ext cx="2701928" cy="4916922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5"/>
          <a:stretch>
            <a:fillRect/>
          </a:stretch>
        </p:blipFill>
        <p:spPr>
          <a:xfrm>
            <a:off x="9012029" y="985113"/>
            <a:ext cx="2607315" cy="491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1821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0" y="609600"/>
            <a:ext cx="7867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/>
              <a:t>ЗАКЛЮЧЕНИЕ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307939" y="2274838"/>
            <a:ext cx="1005214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В заключение курсовой работы по теме «Проектирование ИС ресторана "67 Небо"» можно отметить, что была разработана система, предоставляющая клиентам возможность удобного бронирования столиков через интерактивную карту и участия в автоматизированной программе лояльности. Разработка этой информационной системы представляет собой важный шаг в </a:t>
            </a:r>
            <a:r>
              <a:rPr lang="ru-RU" sz="2400" dirty="0" err="1" smtClean="0"/>
              <a:t>цифровизации</a:t>
            </a:r>
            <a:r>
              <a:rPr lang="ru-RU" sz="2400" dirty="0" smtClean="0"/>
              <a:t> ресторанного бизнеса, обеспечивая гостям современный сервис, а заведению - эффективный инструмент управления бронированием и клиентской базой.</a:t>
            </a:r>
            <a:endParaRPr lang="ru-RU" sz="2400" i="1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265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71487" y="2975428"/>
            <a:ext cx="7867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2765422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467</Words>
  <Application>Microsoft Office PowerPoint</Application>
  <PresentationFormat>Широкоэкранный</PresentationFormat>
  <Paragraphs>60</Paragraphs>
  <Slides>26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Тема Office</vt:lpstr>
      <vt:lpstr>Курсовой проект на тему «Проектирование ИС ”Ресторан”»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 на тему «Проектирование ИС ”Ресторан”»</dc:title>
  <dc:creator>Данил Нагорный</dc:creator>
  <cp:lastModifiedBy>Данил Нагорный</cp:lastModifiedBy>
  <cp:revision>6</cp:revision>
  <dcterms:created xsi:type="dcterms:W3CDTF">2026-05-06T20:26:53Z</dcterms:created>
  <dcterms:modified xsi:type="dcterms:W3CDTF">2026-05-11T09:23:46Z</dcterms:modified>
</cp:coreProperties>
</file>