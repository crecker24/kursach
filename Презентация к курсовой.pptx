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5" r:id="rId10"/>
    <p:sldId id="267" r:id="rId11"/>
    <p:sldId id="268" r:id="rId12"/>
    <p:sldId id="269" r:id="rId13"/>
    <p:sldId id="270" r:id="rId14"/>
    <p:sldId id="271" r:id="rId15"/>
    <p:sldId id="272" r:id="rId16"/>
    <p:sldId id="273" r:id="rId17"/>
    <p:sldId id="274" r:id="rId18"/>
    <p:sldId id="276" r:id="rId19"/>
    <p:sldId id="275" r:id="rId20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75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4507132-AF83-45DF-BCDD-5D22C332BC66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9817704-F86C-423A-A661-D23BF09CE19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30840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AC120613-85A4-4AE3-93A5-40199800B1AF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849084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C03A5-E063-4E90-BC92-E9C79BD4FB42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05D6F-2946-4252-A32E-80FE6346539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9128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C03A5-E063-4E90-BC92-E9C79BD4FB42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05D6F-2946-4252-A32E-80FE6346539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1961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C03A5-E063-4E90-BC92-E9C79BD4FB42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05D6F-2946-4252-A32E-80FE6346539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9163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C03A5-E063-4E90-BC92-E9C79BD4FB42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05D6F-2946-4252-A32E-80FE6346539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7842494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C03A5-E063-4E90-BC92-E9C79BD4FB42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05D6F-2946-4252-A32E-80FE6346539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2943771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C03A5-E063-4E90-BC92-E9C79BD4FB42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05D6F-2946-4252-A32E-80FE6346539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66366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C03A5-E063-4E90-BC92-E9C79BD4FB42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05D6F-2946-4252-A32E-80FE6346539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434979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C03A5-E063-4E90-BC92-E9C79BD4FB42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05D6F-2946-4252-A32E-80FE6346539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6386900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C03A5-E063-4E90-BC92-E9C79BD4FB42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05D6F-2946-4252-A32E-80FE6346539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924934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C03A5-E063-4E90-BC92-E9C79BD4FB42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05D6F-2946-4252-A32E-80FE6346539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745497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53C03A5-E063-4E90-BC92-E9C79BD4FB42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C305D6F-2946-4252-A32E-80FE6346539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1940059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53C03A5-E063-4E90-BC92-E9C79BD4FB42}" type="datetimeFigureOut">
              <a:rPr lang="ru-RU" smtClean="0"/>
              <a:t>07.05.2026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C305D6F-2946-4252-A32E-80FE6346539C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540233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1"/>
          <p:cNvSpPr>
            <a:spLocks noGrp="1"/>
          </p:cNvSpPr>
          <p:nvPr>
            <p:ph type="ctrTitle"/>
          </p:nvPr>
        </p:nvSpPr>
        <p:spPr>
          <a:xfrm>
            <a:off x="1524000" y="2067339"/>
            <a:ext cx="9144000" cy="1442624"/>
          </a:xfrm>
        </p:spPr>
        <p:txBody>
          <a:bodyPr>
            <a:noAutofit/>
          </a:bodyPr>
          <a:lstStyle/>
          <a:p>
            <a:r>
              <a:rPr lang="ru-RU" sz="3600" dirty="0"/>
              <a:t>Курсовой проект</a:t>
            </a:r>
            <a:br>
              <a:rPr lang="ru-RU" sz="3600" dirty="0"/>
            </a:br>
            <a:r>
              <a:rPr lang="ru-RU" sz="3600" dirty="0"/>
              <a:t>на тему </a:t>
            </a:r>
            <a:r>
              <a:rPr lang="ru-RU" sz="1800" dirty="0">
                <a:effectLst/>
                <a:latin typeface="Times New Roman" panose="02020603050405020304" pitchFamily="18" charset="0"/>
                <a:ea typeface="Calibri" panose="020F0502020204030204" pitchFamily="34" charset="0"/>
              </a:rPr>
              <a:t>«</a:t>
            </a:r>
            <a:r>
              <a:rPr lang="ru-RU" sz="3600" dirty="0">
                <a:effectLst/>
                <a:ea typeface="Calibri" panose="020F0502020204030204" pitchFamily="34" charset="0"/>
              </a:rPr>
              <a:t>Проектирование ИС </a:t>
            </a:r>
            <a:r>
              <a:rPr lang="ru-RU" sz="3600" dirty="0" smtClean="0">
                <a:effectLst/>
                <a:ea typeface="Calibri" panose="020F0502020204030204" pitchFamily="34" charset="0"/>
              </a:rPr>
              <a:t>”Ресторан”»</a:t>
            </a:r>
            <a:endParaRPr lang="ru-RU" sz="3600" dirty="0"/>
          </a:p>
        </p:txBody>
      </p:sp>
      <p:sp>
        <p:nvSpPr>
          <p:cNvPr id="5" name="Подзаголовок 2"/>
          <p:cNvSpPr>
            <a:spLocks noGrp="1"/>
          </p:cNvSpPr>
          <p:nvPr>
            <p:ph type="subTitle" idx="1"/>
          </p:nvPr>
        </p:nvSpPr>
        <p:spPr>
          <a:xfrm>
            <a:off x="6944140" y="4073180"/>
            <a:ext cx="4850296" cy="1651759"/>
          </a:xfrm>
        </p:spPr>
        <p:txBody>
          <a:bodyPr>
            <a:no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2000" kern="1100" dirty="0" smtClean="0"/>
              <a:t>Выполнил: Нагорный </a:t>
            </a:r>
            <a:r>
              <a:rPr lang="ru-RU" sz="2000" kern="1100" dirty="0" smtClean="0"/>
              <a:t>Д</a:t>
            </a:r>
            <a:r>
              <a:rPr lang="ru-RU" sz="2000" kern="1100" dirty="0" smtClean="0"/>
              <a:t>.Г., </a:t>
            </a:r>
            <a:endParaRPr lang="ru-RU" sz="2000" kern="1100" dirty="0"/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2000" kern="1100" dirty="0" smtClean="0"/>
              <a:t>студент </a:t>
            </a:r>
            <a:r>
              <a:rPr lang="ru-RU" sz="2000" kern="1100" dirty="0"/>
              <a:t>2 курса очной формы обучения, </a:t>
            </a:r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2000" kern="1100" dirty="0"/>
              <a:t>группы </a:t>
            </a:r>
            <a:r>
              <a:rPr lang="ru-RU" sz="2000" kern="1100" dirty="0" err="1"/>
              <a:t>ИСиП</a:t>
            </a:r>
            <a:r>
              <a:rPr lang="ru-RU" sz="2000" kern="1100" dirty="0"/>
              <a:t> </a:t>
            </a:r>
            <a:r>
              <a:rPr lang="ru-RU" sz="2000" kern="1100" dirty="0" smtClean="0"/>
              <a:t>24-9-1</a:t>
            </a:r>
            <a:endParaRPr lang="ru-RU" sz="2000" kern="1100" dirty="0"/>
          </a:p>
          <a:p>
            <a:pPr algn="r">
              <a:lnSpc>
                <a:spcPct val="100000"/>
              </a:lnSpc>
              <a:spcBef>
                <a:spcPts val="0"/>
              </a:spcBef>
            </a:pPr>
            <a:r>
              <a:rPr lang="ru-RU" sz="2000" kern="1100" dirty="0"/>
              <a:t>Проверила: </a:t>
            </a:r>
            <a:r>
              <a:rPr lang="ru-RU" sz="2000" kern="1100" dirty="0" smtClean="0"/>
              <a:t>Гончарова </a:t>
            </a:r>
            <a:r>
              <a:rPr lang="ru-RU" sz="2000" kern="1100" dirty="0" smtClean="0"/>
              <a:t>Т</a:t>
            </a:r>
            <a:r>
              <a:rPr lang="ru-RU" sz="2000" kern="1100" dirty="0" smtClean="0"/>
              <a:t>.В., </a:t>
            </a:r>
            <a:r>
              <a:rPr lang="ru-RU" sz="2000" kern="1100" dirty="0"/>
              <a:t>должность: преподаватель проф. дисциплин</a:t>
            </a:r>
          </a:p>
          <a:p>
            <a:endParaRPr lang="ru-RU" sz="1800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653143" y="303793"/>
            <a:ext cx="10987314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ru-RU" sz="2000" dirty="0"/>
              <a:t>ГОСУДАРСТВЕННОЕ АВТОНОМНОЕ ПРОФЕССИОНАЛЬНОЕ ОБРАЗОВАТЕЛЬНОЕ </a:t>
            </a:r>
          </a:p>
          <a:p>
            <a:pPr algn="ctr"/>
            <a:r>
              <a:rPr lang="ru-RU" sz="2000" dirty="0"/>
              <a:t>УЧРЕЖДЕНИЕ  ТЮМЕНСКОЙ ОБЛАСТИ </a:t>
            </a:r>
          </a:p>
          <a:p>
            <a:pPr algn="ctr"/>
            <a:r>
              <a:rPr lang="ru-RU" sz="2000" dirty="0"/>
              <a:t>«ТЮМЕНСКИЙ ТЕХНИКУМ СТРОИТЕЛЬНОЙ ИНДУСТРИИ И ГОРОДСКОГО ХОЗЯЙСТВА»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5096801" y="6288156"/>
            <a:ext cx="2093843" cy="40011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2000" dirty="0">
                <a:latin typeface="+mj-lt"/>
              </a:rPr>
              <a:t>г. Тюмень, </a:t>
            </a:r>
            <a:r>
              <a:rPr lang="ru-RU" sz="2000" dirty="0" smtClean="0">
                <a:latin typeface="+mj-lt"/>
              </a:rPr>
              <a:t>2026 </a:t>
            </a:r>
            <a:r>
              <a:rPr lang="ru-RU" sz="2000" dirty="0">
                <a:latin typeface="+mj-lt"/>
              </a:rPr>
              <a:t>г.</a:t>
            </a:r>
          </a:p>
        </p:txBody>
      </p:sp>
    </p:spTree>
    <p:extLst>
      <p:ext uri="{BB962C8B-B14F-4D97-AF65-F5344CB8AC3E}">
        <p14:creationId xmlns:p14="http://schemas.microsoft.com/office/powerpoint/2010/main" val="36093370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609600" y="1999387"/>
            <a:ext cx="9544050" cy="258532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Ресторан «67 НЕБО» - это предприятие общественного питания, предоставляющее услуги по организации досуга и питания гостей. Основными услугами ресторана являются интерактивное бронирование столов через мобильное приложение, предоставление посадочных мест в зале с учетом их вместимости и расположения, а также реализация широкого ассортимента блюд и напитков из актуального меню.</a:t>
            </a:r>
          </a:p>
          <a:p>
            <a:pPr algn="just"/>
            <a:r>
              <a:rPr lang="ru-RU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Ресторан также предлагает дополнительные услуги, такие как автоматизированная программа лояльности с системой накопления бонусов, электронная оплата счетов через интегрированную платежную систему, организация персонализированного обслуживания на основе предпочтений гостя.</a:t>
            </a:r>
            <a:endParaRPr lang="ru-RU" sz="18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2286000" y="609600"/>
            <a:ext cx="78676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ОПИСАНИЕ ПРЕДМЕТНОЙ ОБЛАСТИ</a:t>
            </a:r>
          </a:p>
        </p:txBody>
      </p:sp>
    </p:spTree>
    <p:extLst>
      <p:ext uri="{BB962C8B-B14F-4D97-AF65-F5344CB8AC3E}">
        <p14:creationId xmlns:p14="http://schemas.microsoft.com/office/powerpoint/2010/main" val="25090780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286000" y="609600"/>
            <a:ext cx="78676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ПРОБЛЕМАТИКА</a:t>
            </a:r>
          </a:p>
        </p:txBody>
      </p:sp>
      <p:sp>
        <p:nvSpPr>
          <p:cNvPr id="5" name="Прямоугольник 4"/>
          <p:cNvSpPr/>
          <p:nvPr/>
        </p:nvSpPr>
        <p:spPr>
          <a:xfrm>
            <a:off x="3509962" y="2397948"/>
            <a:ext cx="5172076" cy="156966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buFont typeface="+mj-lt"/>
              <a:buAutoNum type="arabicPeriod"/>
            </a:pPr>
            <a:r>
              <a:rPr lang="ru-RU" sz="3200" b="0" i="0" u="none" strike="noStrike" dirty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Конкуренция на рынке</a:t>
            </a:r>
          </a:p>
          <a:p>
            <a:pPr algn="ctr">
              <a:buFont typeface="+mj-lt"/>
              <a:buAutoNum type="arabicPeriod"/>
            </a:pPr>
            <a:r>
              <a:rPr lang="ru-RU" sz="3200" b="0" i="0" u="none" strike="noStrike" dirty="0" smtClean="0"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Репутация</a:t>
            </a:r>
            <a:endParaRPr lang="ru-RU" sz="3200" b="0" i="0" u="none" strike="noStrike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buFont typeface="+mj-lt"/>
              <a:buAutoNum type="arabicPeriod"/>
            </a:pPr>
            <a:r>
              <a:rPr lang="ru-RU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Отсутствие автоматизации </a:t>
            </a:r>
            <a:endParaRPr lang="ru-RU" sz="3200" b="0" i="0" u="none" strike="noStrike" dirty="0"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37030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1320802" y="302359"/>
            <a:ext cx="9504218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just"/>
            <a:r>
              <a:rPr lang="ru-RU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Цель: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 Разработка информационной системы для автоматизации бронирования столиков и управления программой лояльности в ресторане «67 НЕБО».</a:t>
            </a:r>
          </a:p>
          <a:p>
            <a:pPr algn="just"/>
            <a:r>
              <a:rPr lang="ru-RU" sz="24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marL="442913" indent="-442913" algn="just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Проанализировать предметную область</a:t>
            </a:r>
          </a:p>
          <a:p>
            <a:pPr marL="457200" indent="-457200" algn="just">
              <a:buAutoNum type="arabicPeriod"/>
            </a:pP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анализ конкурентов - изучить основные преимущества и недостатки.</a:t>
            </a:r>
          </a:p>
          <a:p>
            <a:pPr marL="457200" indent="-457200" algn="just"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Спроектировать </a:t>
            </a:r>
            <a:r>
              <a:rPr lang="en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UML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диаграммы, для большего понимания предметной области в целом.</a:t>
            </a:r>
          </a:p>
          <a:p>
            <a:pPr marL="457200" indent="-457200" algn="just"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дизайн пользовательского интерфейса 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мобильного приложения,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учитывая удобство использования и привлекательность для потенциальных клиентов.</a:t>
            </a:r>
          </a:p>
          <a:p>
            <a:pPr marL="457200" indent="-457200" algn="just"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функциональную модель предметной области.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216905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765300" y="1520537"/>
            <a:ext cx="8534400" cy="31085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Объектом исследования является: </a:t>
            </a:r>
            <a:r>
              <a:rPr lang="ru-RU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мобильное приложение.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Предметом исследования является: </a:t>
            </a:r>
            <a:r>
              <a:rPr lang="ru-RU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процессы бронирования столов, управления программой лояльности и обслуживания клиентов через интерфейс информационной системы.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62007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5101" y="302985"/>
            <a:ext cx="115243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IDEF0</a:t>
            </a:r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3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«Ресторанный сервис»</a:t>
            </a:r>
            <a:endParaRPr lang="ru-RU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/>
          <p:cNvPicPr/>
          <p:nvPr/>
        </p:nvPicPr>
        <p:blipFill>
          <a:blip r:embed="rId2"/>
          <a:stretch>
            <a:fillRect/>
          </a:stretch>
        </p:blipFill>
        <p:spPr>
          <a:xfrm>
            <a:off x="2479527" y="1025496"/>
            <a:ext cx="7315489" cy="548614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24816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5101" y="302985"/>
            <a:ext cx="115243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ДЕКОМПОЗИЦИЯ ДИАГРАММЫ 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IDEF0</a:t>
            </a:r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1ур.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ru-RU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Рисунок 3"/>
          <p:cNvPicPr/>
          <p:nvPr/>
        </p:nvPicPr>
        <p:blipFill>
          <a:blip r:embed="rId2"/>
          <a:stretch>
            <a:fillRect/>
          </a:stretch>
        </p:blipFill>
        <p:spPr>
          <a:xfrm>
            <a:off x="1731136" y="1190337"/>
            <a:ext cx="8812271" cy="56676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275454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5101" y="302985"/>
            <a:ext cx="115243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ДИАГРАММА </a:t>
            </a:r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DFD</a:t>
            </a:r>
            <a:r>
              <a:rPr lang="ru-RU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3200" b="1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«Система бронирования столов онлайн»</a:t>
            </a:r>
            <a:endParaRPr lang="ru-RU" sz="32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5" name="Рисунок 4"/>
          <p:cNvPicPr/>
          <p:nvPr/>
        </p:nvPicPr>
        <p:blipFill>
          <a:blip r:embed="rId2"/>
          <a:stretch>
            <a:fillRect/>
          </a:stretch>
        </p:blipFill>
        <p:spPr>
          <a:xfrm>
            <a:off x="3035935" y="2112327"/>
            <a:ext cx="6120130" cy="26333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330291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5101" y="302985"/>
            <a:ext cx="115243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/>
              <a:t>ДЕКОМПОЗИЦИЯ ДИАГРАММЫ </a:t>
            </a:r>
            <a:r>
              <a:rPr lang="en-US" sz="3200" b="1" dirty="0"/>
              <a:t>DFD</a:t>
            </a:r>
            <a:endParaRPr lang="ru-RU" sz="3200" b="1" dirty="0"/>
          </a:p>
        </p:txBody>
      </p:sp>
      <p:pic>
        <p:nvPicPr>
          <p:cNvPr id="5" name="Рисунок 4"/>
          <p:cNvPicPr/>
          <p:nvPr/>
        </p:nvPicPr>
        <p:blipFill>
          <a:blip r:embed="rId2"/>
          <a:stretch>
            <a:fillRect/>
          </a:stretch>
        </p:blipFill>
        <p:spPr>
          <a:xfrm>
            <a:off x="3181996" y="1141844"/>
            <a:ext cx="5910552" cy="5111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403154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5101" y="302985"/>
            <a:ext cx="115243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/>
              <a:t>ТЕХНИЧЕСКОЕ ЗАДАНИЕ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172201" y="1351508"/>
            <a:ext cx="5483228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Функциональные требования к системе: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Актуальность данных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Обеспечение безопасности и конфиденциальности пользовательских данных.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Отказоустойчивость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30627" y="1120676"/>
            <a:ext cx="5483228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Основная цель разработки ИС </a:t>
            </a:r>
            <a:r>
              <a:rPr lang="ru-RU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автоматизировать процессы бронирования столиков, управления интерактивной картой зала и реализации программы лояльности ресторана «67 Небо».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75101" y="3661916"/>
            <a:ext cx="4582852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450215"/>
            <a:r>
              <a:rPr lang="ru-RU" sz="2400" b="1" dirty="0">
                <a:solidFill>
                  <a:srgbClr val="212529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Этапы разработки: </a:t>
            </a:r>
          </a:p>
          <a:p>
            <a:pPr indent="450000"/>
            <a:r>
              <a:rPr lang="ru-RU" sz="2400" dirty="0">
                <a:solidFill>
                  <a:srgbClr val="212529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1. Анализ и проектирование</a:t>
            </a:r>
            <a:endParaRPr lang="ru-RU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450000"/>
            <a:r>
              <a:rPr lang="ru-RU" sz="2400" dirty="0" smtClean="0">
                <a:solidFill>
                  <a:srgbClr val="212529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r>
              <a:rPr lang="ru-RU" sz="2400" dirty="0">
                <a:solidFill>
                  <a:srgbClr val="212529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</a:t>
            </a:r>
            <a:r>
              <a:rPr lang="ru-RU" sz="2400" dirty="0" smtClean="0">
                <a:solidFill>
                  <a:srgbClr val="212529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Разработка</a:t>
            </a:r>
            <a:endParaRPr lang="ru-RU" sz="2400" dirty="0" smtClean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indent="450000"/>
            <a:r>
              <a:rPr lang="ru-RU" sz="2400" dirty="0" smtClean="0">
                <a:solidFill>
                  <a:srgbClr val="212529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3. Внедрение и тестирование</a:t>
            </a:r>
            <a:endParaRPr lang="ru-RU" sz="2400" dirty="0" smtClean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0" indent="450000">
              <a:buSzPts val="1000"/>
              <a:tabLst>
                <a:tab pos="457200" algn="l"/>
              </a:tabLst>
            </a:pPr>
            <a:r>
              <a:rPr lang="ru-RU" sz="2400" dirty="0" smtClean="0">
                <a:solidFill>
                  <a:srgbClr val="212529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r>
              <a:rPr lang="ru-RU" sz="2400" dirty="0">
                <a:solidFill>
                  <a:srgbClr val="212529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Поддержка и развитие</a:t>
            </a:r>
            <a:endParaRPr lang="ru-RU" sz="2400" dirty="0"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6413566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5101" y="302985"/>
            <a:ext cx="115243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UML</a:t>
            </a:r>
            <a:r>
              <a:rPr lang="ru-RU" sz="3200" b="1" dirty="0"/>
              <a:t> диаграмма вариантов использования (</a:t>
            </a:r>
            <a:r>
              <a:rPr lang="en-US" sz="3200" b="1" dirty="0"/>
              <a:t>UseCase</a:t>
            </a:r>
            <a:r>
              <a:rPr lang="ru-RU" sz="3200" b="1" dirty="0"/>
              <a:t>)</a:t>
            </a:r>
          </a:p>
        </p:txBody>
      </p:sp>
      <p:pic>
        <p:nvPicPr>
          <p:cNvPr id="5" name="Рисунок 4"/>
          <p:cNvPicPr/>
          <p:nvPr/>
        </p:nvPicPr>
        <p:blipFill>
          <a:blip r:embed="rId2"/>
          <a:stretch>
            <a:fillRect/>
          </a:stretch>
        </p:blipFill>
        <p:spPr>
          <a:xfrm>
            <a:off x="2562871" y="1173941"/>
            <a:ext cx="7148802" cy="54947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5789277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5101" y="302985"/>
            <a:ext cx="115243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UML</a:t>
            </a:r>
            <a:r>
              <a:rPr lang="ru-RU" sz="3200" b="1" dirty="0"/>
              <a:t> диаграмма деятельности (</a:t>
            </a:r>
            <a:r>
              <a:rPr lang="en-US" sz="3200" b="1" dirty="0"/>
              <a:t>Activity</a:t>
            </a:r>
            <a:r>
              <a:rPr lang="ru-RU" sz="3200" b="1" dirty="0"/>
              <a:t>)</a:t>
            </a:r>
          </a:p>
        </p:txBody>
      </p:sp>
      <p:pic>
        <p:nvPicPr>
          <p:cNvPr id="8" name="Рисунок 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42914" y="887760"/>
            <a:ext cx="4184491" cy="56822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59974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5101" y="302985"/>
            <a:ext cx="115243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UML</a:t>
            </a:r>
            <a:r>
              <a:rPr lang="ru-RU" sz="3200" b="1" dirty="0"/>
              <a:t> диаграмма последовательности (</a:t>
            </a:r>
            <a:r>
              <a:rPr lang="en-US" sz="3200" b="1" dirty="0"/>
              <a:t>Sequence</a:t>
            </a:r>
            <a:r>
              <a:rPr lang="ru-RU" sz="3200" b="1" dirty="0"/>
              <a:t>)</a:t>
            </a:r>
          </a:p>
        </p:txBody>
      </p:sp>
      <p:pic>
        <p:nvPicPr>
          <p:cNvPr id="5" name="Рисунок 4"/>
          <p:cNvPicPr/>
          <p:nvPr/>
        </p:nvPicPr>
        <p:blipFill>
          <a:blip r:embed="rId2"/>
          <a:stretch>
            <a:fillRect/>
          </a:stretch>
        </p:blipFill>
        <p:spPr>
          <a:xfrm>
            <a:off x="2460145" y="1166235"/>
            <a:ext cx="7354254" cy="52899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790156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5101" y="302985"/>
            <a:ext cx="115243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200" b="1" dirty="0"/>
              <a:t>UML</a:t>
            </a:r>
            <a:r>
              <a:rPr lang="ru-RU" sz="3200" b="1" dirty="0"/>
              <a:t> диаграмма классов (</a:t>
            </a:r>
            <a:r>
              <a:rPr lang="en-US" sz="3200" b="1" dirty="0"/>
              <a:t>Class</a:t>
            </a:r>
            <a:r>
              <a:rPr lang="ru-RU" sz="3200" b="1" dirty="0"/>
              <a:t>)</a:t>
            </a:r>
          </a:p>
        </p:txBody>
      </p:sp>
      <p:pic>
        <p:nvPicPr>
          <p:cNvPr id="4" name="Рисунок 3"/>
          <p:cNvPicPr/>
          <p:nvPr/>
        </p:nvPicPr>
        <p:blipFill>
          <a:blip r:embed="rId2"/>
          <a:stretch>
            <a:fillRect/>
          </a:stretch>
        </p:blipFill>
        <p:spPr>
          <a:xfrm>
            <a:off x="1865843" y="1142855"/>
            <a:ext cx="8542857" cy="5470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37402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5101" y="302985"/>
            <a:ext cx="115243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/>
              <a:t>ЛОГИЧЕСКАЯ МОДЕЛЬ ДАННЫХ</a:t>
            </a:r>
          </a:p>
        </p:txBody>
      </p:sp>
      <p:pic>
        <p:nvPicPr>
          <p:cNvPr id="4" name="Рисунок 3"/>
          <p:cNvPicPr/>
          <p:nvPr/>
        </p:nvPicPr>
        <p:blipFill>
          <a:blip r:embed="rId2"/>
          <a:stretch>
            <a:fillRect/>
          </a:stretch>
        </p:blipFill>
        <p:spPr>
          <a:xfrm>
            <a:off x="3077351" y="887760"/>
            <a:ext cx="6119841" cy="5599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09710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5101" y="302985"/>
            <a:ext cx="115243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/>
              <a:t>АНАЛИТИЧЕСКИЕ ЗАПРОСЫ К БАЗЕ ДАННЫХ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5386" y="1439504"/>
            <a:ext cx="109437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 algn="just">
              <a:lnSpc>
                <a:spcPct val="150000"/>
              </a:lnSpc>
            </a:pPr>
            <a:r>
              <a:rPr lang="ru-RU" dirty="0" smtClean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</a:rPr>
              <a:t>Проверка режима работы филиалов</a:t>
            </a:r>
            <a:endParaRPr lang="ru-RU" sz="18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</a:endParaRP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4FF46E6-6C82-CBE9-CBBE-6573F3AA07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76650" y="2106029"/>
            <a:ext cx="4838700" cy="4127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609178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375101" y="302985"/>
            <a:ext cx="1152434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/>
              <a:t>ПОЛЬЗОВАТЕЛЬСКИЙ ИНТЕРФЕЙС</a:t>
            </a:r>
          </a:p>
        </p:txBody>
      </p:sp>
      <p:pic>
        <p:nvPicPr>
          <p:cNvPr id="6" name="Рисунок 5"/>
          <p:cNvPicPr/>
          <p:nvPr/>
        </p:nvPicPr>
        <p:blipFill>
          <a:blip r:embed="rId2"/>
          <a:stretch>
            <a:fillRect/>
          </a:stretch>
        </p:blipFill>
        <p:spPr>
          <a:xfrm>
            <a:off x="375101" y="985115"/>
            <a:ext cx="2617481" cy="4916921"/>
          </a:xfrm>
          <a:prstGeom prst="rect">
            <a:avLst/>
          </a:prstGeom>
        </p:spPr>
      </p:pic>
      <p:pic>
        <p:nvPicPr>
          <p:cNvPr id="7" name="Рисунок 6"/>
          <p:cNvPicPr/>
          <p:nvPr/>
        </p:nvPicPr>
        <p:blipFill>
          <a:blip r:embed="rId3"/>
          <a:stretch>
            <a:fillRect/>
          </a:stretch>
        </p:blipFill>
        <p:spPr>
          <a:xfrm>
            <a:off x="3172399" y="985113"/>
            <a:ext cx="2778069" cy="4916922"/>
          </a:xfrm>
          <a:prstGeom prst="rect">
            <a:avLst/>
          </a:prstGeom>
        </p:spPr>
      </p:pic>
      <p:pic>
        <p:nvPicPr>
          <p:cNvPr id="8" name="Рисунок 7"/>
          <p:cNvPicPr/>
          <p:nvPr/>
        </p:nvPicPr>
        <p:blipFill>
          <a:blip r:embed="rId4"/>
          <a:stretch>
            <a:fillRect/>
          </a:stretch>
        </p:blipFill>
        <p:spPr>
          <a:xfrm>
            <a:off x="6130285" y="985113"/>
            <a:ext cx="2701928" cy="4916922"/>
          </a:xfrm>
          <a:prstGeom prst="rect">
            <a:avLst/>
          </a:prstGeom>
        </p:spPr>
      </p:pic>
      <p:pic>
        <p:nvPicPr>
          <p:cNvPr id="10" name="Рисунок 9"/>
          <p:cNvPicPr/>
          <p:nvPr/>
        </p:nvPicPr>
        <p:blipFill>
          <a:blip r:embed="rId5"/>
          <a:stretch>
            <a:fillRect/>
          </a:stretch>
        </p:blipFill>
        <p:spPr>
          <a:xfrm>
            <a:off x="9012029" y="985113"/>
            <a:ext cx="2607315" cy="49169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318216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86000" y="609600"/>
            <a:ext cx="78676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/>
              <a:t>ЗАКЛЮЧЕНИЕ</a:t>
            </a:r>
          </a:p>
        </p:txBody>
      </p:sp>
      <p:sp>
        <p:nvSpPr>
          <p:cNvPr id="4" name="Прямоугольник 3"/>
          <p:cNvSpPr/>
          <p:nvPr/>
        </p:nvSpPr>
        <p:spPr>
          <a:xfrm>
            <a:off x="1307939" y="2274838"/>
            <a:ext cx="10052148" cy="304698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2400" dirty="0" smtClean="0"/>
              <a:t>В заключение курсовой работы по теме «Проектирование ИС ресторана "67 Небо"» можно отметить, что была разработана система, предоставляющая клиентам возможность удобного бронирования столиков через интерактивную карту и участия в автоматизированной программе лояльности. Разработка этой информационной системы представляет собой важный шаг в </a:t>
            </a:r>
            <a:r>
              <a:rPr lang="ru-RU" sz="2400" dirty="0" err="1" smtClean="0"/>
              <a:t>цифровизации</a:t>
            </a:r>
            <a:r>
              <a:rPr lang="ru-RU" sz="2400" dirty="0" smtClean="0"/>
              <a:t> ресторанного бизнеса, обеспечивая гостям современный сервис, а заведению - эффективный инструмент управления бронированием и клиентской базой.</a:t>
            </a:r>
            <a:endParaRPr lang="ru-RU" sz="2400" i="1" dirty="0">
              <a:effectLst/>
              <a:ea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1026516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71487" y="2975428"/>
            <a:ext cx="786765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b="1" dirty="0"/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3276542283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46</TotalTime>
  <Words>439</Words>
  <Application>Microsoft Office PowerPoint</Application>
  <PresentationFormat>Широкоэкранный</PresentationFormat>
  <Paragraphs>53</Paragraphs>
  <Slides>19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19</vt:i4>
      </vt:variant>
    </vt:vector>
  </HeadingPairs>
  <TitlesOfParts>
    <vt:vector size="24" baseType="lpstr">
      <vt:lpstr>Arial</vt:lpstr>
      <vt:lpstr>Calibri</vt:lpstr>
      <vt:lpstr>Calibri Light</vt:lpstr>
      <vt:lpstr>Times New Roman</vt:lpstr>
      <vt:lpstr>Тема Office</vt:lpstr>
      <vt:lpstr>Курсовой проект на тему «Проектирование ИС ”Ресторан”»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Курсовой проект на тему «Проектирование ИС ”Ресторан”»</dc:title>
  <dc:creator>Данил Нагорный</dc:creator>
  <cp:lastModifiedBy>Данил Нагорный</cp:lastModifiedBy>
  <cp:revision>4</cp:revision>
  <dcterms:created xsi:type="dcterms:W3CDTF">2026-05-06T20:26:53Z</dcterms:created>
  <dcterms:modified xsi:type="dcterms:W3CDTF">2026-05-06T21:13:30Z</dcterms:modified>
</cp:coreProperties>
</file>